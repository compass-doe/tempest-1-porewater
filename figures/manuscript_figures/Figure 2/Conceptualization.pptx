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3C9AE-160C-6C9D-B77F-D3ABE7276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09D25-C705-2C85-C949-76FDABF51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E285-8F30-1C20-AF45-94336020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96AA-1303-E12F-C6C5-3C043FF0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56A2C-3516-6A4F-E27C-7261A1BC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1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3E4C-0C04-56B2-EA95-B09E43C1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76D33-A538-0AD8-2B3C-6125773D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439C6-A651-9A68-BC49-AB67C275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7657-9D49-B187-58A0-665285D6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90519-6D0E-9688-B31B-5E7B4D2F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621B-D8DB-ABB5-E77B-19415216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7A028-192C-37C7-7F8F-63540DAB9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F4A9B-E8D2-39B9-03EF-D0422C5B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2D3B5-7392-4C9E-07D1-A47C9113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BB1D-EA8B-401C-0C36-0D6AB31B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A647-4BBF-6619-8BBB-8D32CABA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D6421-1D65-F17F-65A6-C01E3673D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250E8-4327-5350-76C5-EE0C977BA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2D85E-0BF8-2FCD-4064-B904BE46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262A1-CD0E-AF41-F10C-62C22CD2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565A5-B096-2C5A-584F-FF52B721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5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854F-5944-4B9F-7476-B8992CD6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DE306-1625-B86A-DA5C-9267C83BB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AE780-98A1-312F-C4A7-82637DE9A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B46DC-BB0C-FCAC-3E14-AD90B229A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1CAC7-CA5F-F1CB-4CA1-50382178F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3D4FC-2E1F-225A-4662-68620F78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1C5B0-BBE4-18D7-DAC0-CF69F70C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D60D0-B973-1512-2186-94A35F42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1467-CAA9-2667-58CF-5B26BD35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AEE33-08F6-1001-EFE1-727410E8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A89FA-8124-CBEB-1CF1-627662E6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B9B28-7E1E-4D8F-7ADA-C497E29B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3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F5C47-6D21-7489-D130-4B9E7E0E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C7FED-62D0-DFEA-603D-2CF51E3D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FDD3B-48A3-6FF9-CF71-441EFB5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6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B229-5F98-85CF-9CE6-592B4F539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151E5-3739-A943-E5BD-4E724455D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ED175-DD61-FB90-6963-E481A31B4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1A3F-1522-C3A6-20EE-FFD176DE2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3F9C3-492A-256B-4852-F7B5DA93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E5395-FF18-608C-D457-9A0ECC85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24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8E0F-DE3C-8AB4-2AB4-A506F34E8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DB710-68A4-7409-77E5-431B533D7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470EC-32DB-E61B-EBD1-426771358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31386-BE64-494C-DBEC-E8557696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0FD92-AD17-E249-C4FA-42B799D0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1CD4E-F863-7573-F17B-7A57ED7A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4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B5C0-A7A4-2884-620A-8FEB2434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56F27-D336-E402-4FA4-7BBF19666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D8DCB-B94D-FF28-B54E-55D58627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865A-F886-7CF0-1783-48660749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0E56-C315-6008-32B1-3EADD20F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8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07EF0-EAB9-61E1-E6CD-6B9A753BC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83DBE-5BB6-5939-DEFE-F05E37597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84675-E69B-089E-7DB1-9FFA4CA5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EEAE8-1A7A-BBA9-66C2-2276BA0A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2298A-0D16-C0F2-F727-2D146DDD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7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314FB-C5DA-8C5E-F3BB-0D511B9C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8D614-087E-78E3-D696-52F186721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8B639-1B17-8BF3-5285-C15CC3E8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C5699-69A1-45D0-B68A-CBE17BCE3D8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2F2FB-899A-FFAE-5B0C-D836B3A1B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250EC-457F-8A9F-ADDA-F852872C4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0A517-0465-48DC-89C1-E22EE3CDF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0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D8025E-09AC-4589-7DB4-3C3AB3F58373}"/>
              </a:ext>
            </a:extLst>
          </p:cNvPr>
          <p:cNvSpPr/>
          <p:nvPr/>
        </p:nvSpPr>
        <p:spPr>
          <a:xfrm>
            <a:off x="2705099" y="1637157"/>
            <a:ext cx="6571753" cy="3401568"/>
          </a:xfrm>
          <a:prstGeom prst="round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9E3A92-50B5-9379-5D4B-E095EFD38A43}"/>
              </a:ext>
            </a:extLst>
          </p:cNvPr>
          <p:cNvSpPr/>
          <p:nvPr/>
        </p:nvSpPr>
        <p:spPr>
          <a:xfrm>
            <a:off x="3319319" y="2371726"/>
            <a:ext cx="1865745" cy="1791854"/>
          </a:xfrm>
          <a:prstGeom prst="ellipse">
            <a:avLst/>
          </a:prstGeom>
          <a:solidFill>
            <a:srgbClr val="CC9900"/>
          </a:solidFill>
          <a:ln w="3175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64A94A6-BED6-9CD2-D47B-AD621F18244B}"/>
              </a:ext>
            </a:extLst>
          </p:cNvPr>
          <p:cNvSpPr/>
          <p:nvPr/>
        </p:nvSpPr>
        <p:spPr>
          <a:xfrm>
            <a:off x="9610504" y="2926011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20916E-9085-5EF7-E8CF-6066A5F8AFE0}"/>
              </a:ext>
            </a:extLst>
          </p:cNvPr>
          <p:cNvSpPr/>
          <p:nvPr/>
        </p:nvSpPr>
        <p:spPr>
          <a:xfrm>
            <a:off x="9666578" y="3575448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9A6B8A7-6005-DFED-B03E-4EF950164A67}"/>
              </a:ext>
            </a:extLst>
          </p:cNvPr>
          <p:cNvSpPr/>
          <p:nvPr/>
        </p:nvSpPr>
        <p:spPr>
          <a:xfrm>
            <a:off x="5659009" y="3362103"/>
            <a:ext cx="1465029" cy="34190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582540F-8053-C7A8-B39B-17ADE7EB8896}"/>
              </a:ext>
            </a:extLst>
          </p:cNvPr>
          <p:cNvSpPr/>
          <p:nvPr/>
        </p:nvSpPr>
        <p:spPr>
          <a:xfrm rot="10800000">
            <a:off x="5659009" y="2723791"/>
            <a:ext cx="1465028" cy="341907"/>
          </a:xfrm>
          <a:prstGeom prst="rightArrow">
            <a:avLst/>
          </a:prstGeom>
          <a:solidFill>
            <a:srgbClr val="CC9900"/>
          </a:solidFill>
          <a:ln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19E7E9-CC67-7D17-AF99-3FB82F613283}"/>
              </a:ext>
            </a:extLst>
          </p:cNvPr>
          <p:cNvSpPr txBox="1"/>
          <p:nvPr/>
        </p:nvSpPr>
        <p:spPr>
          <a:xfrm>
            <a:off x="5908058" y="2715840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sorption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8F8900-D5FB-4D03-6846-680CCB932399}"/>
              </a:ext>
            </a:extLst>
          </p:cNvPr>
          <p:cNvSpPr txBox="1"/>
          <p:nvPr/>
        </p:nvSpPr>
        <p:spPr>
          <a:xfrm>
            <a:off x="5732955" y="3350798"/>
            <a:ext cx="1317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desorption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B85A7E8-3735-5331-F60E-D9651BE587BF}"/>
              </a:ext>
            </a:extLst>
          </p:cNvPr>
          <p:cNvSpPr/>
          <p:nvPr/>
        </p:nvSpPr>
        <p:spPr>
          <a:xfrm>
            <a:off x="3087353" y="2753827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009AF5C-172A-863F-799F-254D2FEB302A}"/>
              </a:ext>
            </a:extLst>
          </p:cNvPr>
          <p:cNvSpPr/>
          <p:nvPr/>
        </p:nvSpPr>
        <p:spPr>
          <a:xfrm>
            <a:off x="4467599" y="3780270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80CC884-CB93-78DD-C25E-2AA9A1A2DF0B}"/>
              </a:ext>
            </a:extLst>
          </p:cNvPr>
          <p:cNvSpPr/>
          <p:nvPr/>
        </p:nvSpPr>
        <p:spPr>
          <a:xfrm>
            <a:off x="8412771" y="3145048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289F903-98CE-15F0-853E-7612891A510E}"/>
              </a:ext>
            </a:extLst>
          </p:cNvPr>
          <p:cNvSpPr/>
          <p:nvPr/>
        </p:nvSpPr>
        <p:spPr>
          <a:xfrm>
            <a:off x="6989383" y="4214379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F997A2A-EBAF-8A34-2DF3-762A45A33D7E}"/>
              </a:ext>
            </a:extLst>
          </p:cNvPr>
          <p:cNvSpPr/>
          <p:nvPr/>
        </p:nvSpPr>
        <p:spPr>
          <a:xfrm>
            <a:off x="7453314" y="1977461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C477A4-E295-2011-3D7D-27127283B3EE}"/>
              </a:ext>
            </a:extLst>
          </p:cNvPr>
          <p:cNvSpPr/>
          <p:nvPr/>
        </p:nvSpPr>
        <p:spPr>
          <a:xfrm rot="16610599">
            <a:off x="4463161" y="2274101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E47CD4-EFD4-CE00-ADAE-038F12010202}"/>
              </a:ext>
            </a:extLst>
          </p:cNvPr>
          <p:cNvSpPr/>
          <p:nvPr/>
        </p:nvSpPr>
        <p:spPr>
          <a:xfrm rot="18454194">
            <a:off x="3330549" y="3679221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39C0E8-A8CC-6DAA-AEF7-7D8E4E025AA2}"/>
              </a:ext>
            </a:extLst>
          </p:cNvPr>
          <p:cNvSpPr/>
          <p:nvPr/>
        </p:nvSpPr>
        <p:spPr>
          <a:xfrm>
            <a:off x="4901575" y="2967850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7E6C8C6-EBAD-E7C2-5870-5D7C0DB811A7}"/>
              </a:ext>
            </a:extLst>
          </p:cNvPr>
          <p:cNvSpPr/>
          <p:nvPr/>
        </p:nvSpPr>
        <p:spPr>
          <a:xfrm>
            <a:off x="3534245" y="2389098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D1A57A6-D06F-E902-6673-9F41BFAD1350}"/>
              </a:ext>
            </a:extLst>
          </p:cNvPr>
          <p:cNvSpPr/>
          <p:nvPr/>
        </p:nvSpPr>
        <p:spPr>
          <a:xfrm>
            <a:off x="4917716" y="3486413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8F11398-5E9F-6F37-48DA-98A96BA0A07B}"/>
              </a:ext>
            </a:extLst>
          </p:cNvPr>
          <p:cNvSpPr/>
          <p:nvPr/>
        </p:nvSpPr>
        <p:spPr>
          <a:xfrm>
            <a:off x="3522560" y="3859045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51E0FA-1506-48EB-3D09-80B1E04AEB26}"/>
              </a:ext>
            </a:extLst>
          </p:cNvPr>
          <p:cNvSpPr/>
          <p:nvPr/>
        </p:nvSpPr>
        <p:spPr>
          <a:xfrm>
            <a:off x="4419705" y="4063921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0ED29D-6026-5B7A-73B7-CEEF9270F52D}"/>
              </a:ext>
            </a:extLst>
          </p:cNvPr>
          <p:cNvSpPr/>
          <p:nvPr/>
        </p:nvSpPr>
        <p:spPr>
          <a:xfrm>
            <a:off x="4989687" y="265238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F9F913-634A-B1AC-00B3-DC19ABCB7C05}"/>
              </a:ext>
            </a:extLst>
          </p:cNvPr>
          <p:cNvSpPr/>
          <p:nvPr/>
        </p:nvSpPr>
        <p:spPr>
          <a:xfrm>
            <a:off x="4046103" y="412457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D71300-4C9B-D218-3DB5-5DCC5136721D}"/>
              </a:ext>
            </a:extLst>
          </p:cNvPr>
          <p:cNvSpPr/>
          <p:nvPr/>
        </p:nvSpPr>
        <p:spPr>
          <a:xfrm>
            <a:off x="4021161" y="228465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C760F43-A36B-6CFC-4A30-BF52A58D26C8}"/>
              </a:ext>
            </a:extLst>
          </p:cNvPr>
          <p:cNvSpPr/>
          <p:nvPr/>
        </p:nvSpPr>
        <p:spPr>
          <a:xfrm>
            <a:off x="3257464" y="3422953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A87D55C-31A6-913C-9559-AB9BB0C6C15A}"/>
              </a:ext>
            </a:extLst>
          </p:cNvPr>
          <p:cNvSpPr/>
          <p:nvPr/>
        </p:nvSpPr>
        <p:spPr>
          <a:xfrm>
            <a:off x="4948262" y="3832879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F34E320-8A8E-BCC0-F2C9-E040D5E1F14A}"/>
              </a:ext>
            </a:extLst>
          </p:cNvPr>
          <p:cNvSpPr/>
          <p:nvPr/>
        </p:nvSpPr>
        <p:spPr>
          <a:xfrm>
            <a:off x="9788979" y="258040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059EF4A-15A4-65B0-7F9F-FDC7A73309FF}"/>
              </a:ext>
            </a:extLst>
          </p:cNvPr>
          <p:cNvSpPr/>
          <p:nvPr/>
        </p:nvSpPr>
        <p:spPr>
          <a:xfrm>
            <a:off x="3773501" y="403666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8D0261A-B100-9887-F0E9-CD98E752FBF2}"/>
              </a:ext>
            </a:extLst>
          </p:cNvPr>
          <p:cNvSpPr/>
          <p:nvPr/>
        </p:nvSpPr>
        <p:spPr>
          <a:xfrm>
            <a:off x="5075945" y="283601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38777B-9B19-F900-0ACE-4AF0CA98CCFC}"/>
              </a:ext>
            </a:extLst>
          </p:cNvPr>
          <p:cNvSpPr/>
          <p:nvPr/>
        </p:nvSpPr>
        <p:spPr>
          <a:xfrm>
            <a:off x="3220493" y="323404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9D2D53-CB53-3B38-94AC-B6CCE962B818}"/>
              </a:ext>
            </a:extLst>
          </p:cNvPr>
          <p:cNvSpPr/>
          <p:nvPr/>
        </p:nvSpPr>
        <p:spPr>
          <a:xfrm>
            <a:off x="4326716" y="228465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8958FC3-BACE-4C03-C624-59FC1186B79D}"/>
              </a:ext>
            </a:extLst>
          </p:cNvPr>
          <p:cNvCxnSpPr>
            <a:cxnSpLocks/>
          </p:cNvCxnSpPr>
          <p:nvPr/>
        </p:nvCxnSpPr>
        <p:spPr>
          <a:xfrm>
            <a:off x="6869117" y="215477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D12F614-3A1D-24E5-7CBD-C1971DCDC394}"/>
              </a:ext>
            </a:extLst>
          </p:cNvPr>
          <p:cNvCxnSpPr>
            <a:cxnSpLocks/>
          </p:cNvCxnSpPr>
          <p:nvPr/>
        </p:nvCxnSpPr>
        <p:spPr>
          <a:xfrm>
            <a:off x="8445378" y="282094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3BA73B9-B53B-FB49-27C2-174714164DFA}"/>
              </a:ext>
            </a:extLst>
          </p:cNvPr>
          <p:cNvCxnSpPr>
            <a:cxnSpLocks/>
          </p:cNvCxnSpPr>
          <p:nvPr/>
        </p:nvCxnSpPr>
        <p:spPr>
          <a:xfrm>
            <a:off x="7493126" y="3693426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56CFABD-998E-3D90-7D0B-E67494454690}"/>
              </a:ext>
            </a:extLst>
          </p:cNvPr>
          <p:cNvCxnSpPr>
            <a:cxnSpLocks/>
          </p:cNvCxnSpPr>
          <p:nvPr/>
        </p:nvCxnSpPr>
        <p:spPr>
          <a:xfrm>
            <a:off x="8552976" y="2234979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9B65BB8-897E-DA7C-FD43-3C0D528A6B95}"/>
              </a:ext>
            </a:extLst>
          </p:cNvPr>
          <p:cNvCxnSpPr>
            <a:cxnSpLocks/>
          </p:cNvCxnSpPr>
          <p:nvPr/>
        </p:nvCxnSpPr>
        <p:spPr>
          <a:xfrm>
            <a:off x="8273323" y="4481188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6C5E734-EC1E-7BB3-13E2-55A980D06FF6}"/>
              </a:ext>
            </a:extLst>
          </p:cNvPr>
          <p:cNvCxnSpPr>
            <a:cxnSpLocks/>
          </p:cNvCxnSpPr>
          <p:nvPr/>
        </p:nvCxnSpPr>
        <p:spPr>
          <a:xfrm>
            <a:off x="3391073" y="2590825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FF07C6D-84E0-6C9F-B141-81EEF259D593}"/>
              </a:ext>
            </a:extLst>
          </p:cNvPr>
          <p:cNvCxnSpPr>
            <a:cxnSpLocks/>
          </p:cNvCxnSpPr>
          <p:nvPr/>
        </p:nvCxnSpPr>
        <p:spPr>
          <a:xfrm>
            <a:off x="7825485" y="3150007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BED618B-639A-588D-F732-5D8BD3107CAE}"/>
              </a:ext>
            </a:extLst>
          </p:cNvPr>
          <p:cNvCxnSpPr>
            <a:cxnSpLocks/>
          </p:cNvCxnSpPr>
          <p:nvPr/>
        </p:nvCxnSpPr>
        <p:spPr>
          <a:xfrm>
            <a:off x="8461216" y="4024499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7D60272-E50A-3530-C961-78E20AB7CDE1}"/>
              </a:ext>
            </a:extLst>
          </p:cNvPr>
          <p:cNvCxnSpPr>
            <a:cxnSpLocks/>
          </p:cNvCxnSpPr>
          <p:nvPr/>
        </p:nvCxnSpPr>
        <p:spPr>
          <a:xfrm>
            <a:off x="4214969" y="4123856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62FE7B7-BA7F-47F9-35B4-2D86A7AAD45B}"/>
              </a:ext>
            </a:extLst>
          </p:cNvPr>
          <p:cNvCxnSpPr>
            <a:cxnSpLocks/>
          </p:cNvCxnSpPr>
          <p:nvPr/>
        </p:nvCxnSpPr>
        <p:spPr>
          <a:xfrm>
            <a:off x="9725837" y="221976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5248C05-A806-E936-5D86-002481E06A84}"/>
              </a:ext>
            </a:extLst>
          </p:cNvPr>
          <p:cNvSpPr txBox="1"/>
          <p:nvPr/>
        </p:nvSpPr>
        <p:spPr>
          <a:xfrm>
            <a:off x="3635164" y="3101690"/>
            <a:ext cx="1279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Solid Phase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FF3953-8C30-6AC6-3E39-15FABF5EDC30}"/>
              </a:ext>
            </a:extLst>
          </p:cNvPr>
          <p:cNvSpPr txBox="1"/>
          <p:nvPr/>
        </p:nvSpPr>
        <p:spPr>
          <a:xfrm>
            <a:off x="5345502" y="1700396"/>
            <a:ext cx="16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Solution Phase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2DD829-1D97-3A50-988A-33592896B754}"/>
              </a:ext>
            </a:extLst>
          </p:cNvPr>
          <p:cNvSpPr txBox="1"/>
          <p:nvPr/>
        </p:nvSpPr>
        <p:spPr>
          <a:xfrm>
            <a:off x="10034351" y="2096479"/>
            <a:ext cx="2008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Low mass C (e.g., acetate)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AB2521-DE1D-8103-4AA2-575361D2E349}"/>
              </a:ext>
            </a:extLst>
          </p:cNvPr>
          <p:cNvSpPr txBox="1"/>
          <p:nvPr/>
        </p:nvSpPr>
        <p:spPr>
          <a:xfrm>
            <a:off x="10034351" y="2404587"/>
            <a:ext cx="1916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Colloids (mineral, organic, mineral/organic)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B38C17-6223-66EA-7128-6D8422CDCA57}"/>
              </a:ext>
            </a:extLst>
          </p:cNvPr>
          <p:cNvSpPr txBox="1"/>
          <p:nvPr/>
        </p:nvSpPr>
        <p:spPr>
          <a:xfrm>
            <a:off x="10034351" y="2908080"/>
            <a:ext cx="1871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Organic macromolecule (dispersed/random coil)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258B6C-E2A0-2F14-326A-3F1341B8687A}"/>
              </a:ext>
            </a:extLst>
          </p:cNvPr>
          <p:cNvSpPr txBox="1"/>
          <p:nvPr/>
        </p:nvSpPr>
        <p:spPr>
          <a:xfrm>
            <a:off x="10034351" y="3474666"/>
            <a:ext cx="1871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Organic macromolecule (aggregated)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7A8A0542-AA32-1191-E936-2E7E85B2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51" y="2143172"/>
            <a:ext cx="2635485" cy="2505316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BC01C69-A403-0BE1-F4C8-4FEFDE90D4FC}"/>
              </a:ext>
            </a:extLst>
          </p:cNvPr>
          <p:cNvSpPr/>
          <p:nvPr/>
        </p:nvSpPr>
        <p:spPr>
          <a:xfrm>
            <a:off x="797484" y="2163154"/>
            <a:ext cx="174669" cy="2381250"/>
          </a:xfrm>
          <a:prstGeom prst="roundRect">
            <a:avLst/>
          </a:prstGeom>
          <a:solidFill>
            <a:srgbClr val="C0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0BE051-B3E1-BF87-3EEA-8DF65402413B}"/>
              </a:ext>
            </a:extLst>
          </p:cNvPr>
          <p:cNvSpPr txBox="1"/>
          <p:nvPr/>
        </p:nvSpPr>
        <p:spPr>
          <a:xfrm>
            <a:off x="2417006" y="399567"/>
            <a:ext cx="698210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Pre-treatment: </a:t>
            </a:r>
          </a:p>
          <a:p>
            <a:pPr algn="ctr"/>
            <a:r>
              <a:rPr lang="en-US" dirty="0"/>
              <a:t>System at quasi-equilibrium with respect to OC-mineral interactions 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742A65F-3C16-4D7D-9832-C598A80CFDBB}"/>
              </a:ext>
            </a:extLst>
          </p:cNvPr>
          <p:cNvSpPr/>
          <p:nvPr/>
        </p:nvSpPr>
        <p:spPr>
          <a:xfrm>
            <a:off x="7661000" y="262690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6AEBCE1-35AE-AF30-1306-695B8590F499}"/>
              </a:ext>
            </a:extLst>
          </p:cNvPr>
          <p:cNvSpPr/>
          <p:nvPr/>
        </p:nvSpPr>
        <p:spPr>
          <a:xfrm>
            <a:off x="7865554" y="4172332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5B5193C-8A80-0BFE-C66C-6ADD4B4DABB2}"/>
              </a:ext>
            </a:extLst>
          </p:cNvPr>
          <p:cNvSpPr/>
          <p:nvPr/>
        </p:nvSpPr>
        <p:spPr>
          <a:xfrm>
            <a:off x="8945793" y="2694998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8E03B2-F0F7-572A-94AA-AEA52616A6D5}"/>
              </a:ext>
            </a:extLst>
          </p:cNvPr>
          <p:cNvSpPr txBox="1"/>
          <p:nvPr/>
        </p:nvSpPr>
        <p:spPr>
          <a:xfrm>
            <a:off x="846278" y="5339522"/>
            <a:ext cx="110598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Low mass C has relatively low affinity for soil surfaces so is primarily in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Organic macromolecules preferentially sorbed (in a variety of conformations); those in solution are relatively dispersed (random coil conformation)…Note: macromolecular C can also be colloidal depending on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Colloids tend to be surface associated, but some are dispersed in solution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9BFF12C-A0AF-B015-E455-93597F30EBB6}"/>
              </a:ext>
            </a:extLst>
          </p:cNvPr>
          <p:cNvCxnSpPr>
            <a:cxnSpLocks/>
          </p:cNvCxnSpPr>
          <p:nvPr/>
        </p:nvCxnSpPr>
        <p:spPr>
          <a:xfrm flipH="1">
            <a:off x="993460" y="793264"/>
            <a:ext cx="3501550" cy="13086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4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1A56E-F035-BC63-C566-9A52F7FF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C63AA2-6872-C533-2C2E-272E2EDF9EAD}"/>
              </a:ext>
            </a:extLst>
          </p:cNvPr>
          <p:cNvSpPr/>
          <p:nvPr/>
        </p:nvSpPr>
        <p:spPr>
          <a:xfrm>
            <a:off x="2705099" y="1637157"/>
            <a:ext cx="6571753" cy="3401568"/>
          </a:xfrm>
          <a:prstGeom prst="round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ED28EF-C8B9-3311-3183-24E5ADAF563E}"/>
              </a:ext>
            </a:extLst>
          </p:cNvPr>
          <p:cNvSpPr/>
          <p:nvPr/>
        </p:nvSpPr>
        <p:spPr>
          <a:xfrm>
            <a:off x="3319319" y="2371726"/>
            <a:ext cx="1865745" cy="1791854"/>
          </a:xfrm>
          <a:prstGeom prst="ellipse">
            <a:avLst/>
          </a:prstGeom>
          <a:solidFill>
            <a:srgbClr val="CC9900"/>
          </a:solidFill>
          <a:ln w="3175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0947E2-BD6F-A184-07A9-7E636AA1A05D}"/>
              </a:ext>
            </a:extLst>
          </p:cNvPr>
          <p:cNvSpPr/>
          <p:nvPr/>
        </p:nvSpPr>
        <p:spPr>
          <a:xfrm>
            <a:off x="9610504" y="2926011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9F1FA1-712A-4200-B865-6FF97D9156AF}"/>
              </a:ext>
            </a:extLst>
          </p:cNvPr>
          <p:cNvSpPr/>
          <p:nvPr/>
        </p:nvSpPr>
        <p:spPr>
          <a:xfrm>
            <a:off x="9666578" y="3575448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52117E5-083D-C7F3-54A0-679CD67EF7D7}"/>
              </a:ext>
            </a:extLst>
          </p:cNvPr>
          <p:cNvSpPr/>
          <p:nvPr/>
        </p:nvSpPr>
        <p:spPr>
          <a:xfrm>
            <a:off x="5659009" y="3575448"/>
            <a:ext cx="1465029" cy="12856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F792E4F-2CFC-611E-8460-C2F8624F3CAE}"/>
              </a:ext>
            </a:extLst>
          </p:cNvPr>
          <p:cNvSpPr/>
          <p:nvPr/>
        </p:nvSpPr>
        <p:spPr>
          <a:xfrm rot="10800000">
            <a:off x="5472172" y="2346974"/>
            <a:ext cx="1465028" cy="1093270"/>
          </a:xfrm>
          <a:prstGeom prst="rightArrow">
            <a:avLst/>
          </a:prstGeom>
          <a:solidFill>
            <a:srgbClr val="CC9900"/>
          </a:solidFill>
          <a:ln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967838-A549-687B-CAA5-D73228506C70}"/>
              </a:ext>
            </a:extLst>
          </p:cNvPr>
          <p:cNvSpPr txBox="1"/>
          <p:nvPr/>
        </p:nvSpPr>
        <p:spPr>
          <a:xfrm>
            <a:off x="5908058" y="2715840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sorption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FACC9-1ABC-ECCE-7114-29E98ACDB316}"/>
              </a:ext>
            </a:extLst>
          </p:cNvPr>
          <p:cNvSpPr txBox="1"/>
          <p:nvPr/>
        </p:nvSpPr>
        <p:spPr>
          <a:xfrm>
            <a:off x="5792701" y="3588322"/>
            <a:ext cx="1317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desorption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124C6CE-B43D-D1EC-9053-1F23A239F3E7}"/>
              </a:ext>
            </a:extLst>
          </p:cNvPr>
          <p:cNvSpPr/>
          <p:nvPr/>
        </p:nvSpPr>
        <p:spPr>
          <a:xfrm>
            <a:off x="4901575" y="2967850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B8146C3-1BC6-3880-2A83-77DAE84223A2}"/>
              </a:ext>
            </a:extLst>
          </p:cNvPr>
          <p:cNvSpPr/>
          <p:nvPr/>
        </p:nvSpPr>
        <p:spPr>
          <a:xfrm>
            <a:off x="3534245" y="2389098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C0DC5C2-2AE7-0C69-E418-8568A3B82AFA}"/>
              </a:ext>
            </a:extLst>
          </p:cNvPr>
          <p:cNvSpPr/>
          <p:nvPr/>
        </p:nvSpPr>
        <p:spPr>
          <a:xfrm>
            <a:off x="4917716" y="3486413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59542F4-328A-9629-8D31-5B7B41A67AFF}"/>
              </a:ext>
            </a:extLst>
          </p:cNvPr>
          <p:cNvSpPr/>
          <p:nvPr/>
        </p:nvSpPr>
        <p:spPr>
          <a:xfrm>
            <a:off x="3522560" y="3859045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579BAD7-78C7-1E48-5D6A-2723803265D4}"/>
              </a:ext>
            </a:extLst>
          </p:cNvPr>
          <p:cNvSpPr/>
          <p:nvPr/>
        </p:nvSpPr>
        <p:spPr>
          <a:xfrm>
            <a:off x="4419705" y="4063921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31C3BC-05BF-4CA6-BF39-B1638E22D4E3}"/>
              </a:ext>
            </a:extLst>
          </p:cNvPr>
          <p:cNvSpPr/>
          <p:nvPr/>
        </p:nvSpPr>
        <p:spPr>
          <a:xfrm>
            <a:off x="4989687" y="265238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FD58E9-061A-6D70-1352-C485ECFE1DD7}"/>
              </a:ext>
            </a:extLst>
          </p:cNvPr>
          <p:cNvSpPr/>
          <p:nvPr/>
        </p:nvSpPr>
        <p:spPr>
          <a:xfrm>
            <a:off x="4046103" y="412457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3BF4C26-5732-2D96-B8F6-35B83073FE8C}"/>
              </a:ext>
            </a:extLst>
          </p:cNvPr>
          <p:cNvSpPr/>
          <p:nvPr/>
        </p:nvSpPr>
        <p:spPr>
          <a:xfrm>
            <a:off x="4021161" y="228465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2BFFB9E-56BB-A6BF-0389-8C57B8CB8217}"/>
              </a:ext>
            </a:extLst>
          </p:cNvPr>
          <p:cNvSpPr/>
          <p:nvPr/>
        </p:nvSpPr>
        <p:spPr>
          <a:xfrm>
            <a:off x="3257464" y="3422953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F13A2C3-CECD-1B21-7091-67139F3E1018}"/>
              </a:ext>
            </a:extLst>
          </p:cNvPr>
          <p:cNvSpPr/>
          <p:nvPr/>
        </p:nvSpPr>
        <p:spPr>
          <a:xfrm>
            <a:off x="4948262" y="3832879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F64C664-2130-1E54-EC8C-FF99CFFB9EDE}"/>
              </a:ext>
            </a:extLst>
          </p:cNvPr>
          <p:cNvSpPr/>
          <p:nvPr/>
        </p:nvSpPr>
        <p:spPr>
          <a:xfrm>
            <a:off x="9788979" y="258040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6247A52-437C-B28C-4792-D9D14DC4572C}"/>
              </a:ext>
            </a:extLst>
          </p:cNvPr>
          <p:cNvSpPr/>
          <p:nvPr/>
        </p:nvSpPr>
        <p:spPr>
          <a:xfrm>
            <a:off x="3773501" y="403666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5A293B5-C9F4-EA5D-79B0-E7E8CB60F864}"/>
              </a:ext>
            </a:extLst>
          </p:cNvPr>
          <p:cNvSpPr/>
          <p:nvPr/>
        </p:nvSpPr>
        <p:spPr>
          <a:xfrm>
            <a:off x="5075945" y="283601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018B0CE-F967-5AA4-C093-2B77651523E9}"/>
              </a:ext>
            </a:extLst>
          </p:cNvPr>
          <p:cNvSpPr/>
          <p:nvPr/>
        </p:nvSpPr>
        <p:spPr>
          <a:xfrm>
            <a:off x="3220493" y="323404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69610F-BDF6-3C21-F05C-6724B730B135}"/>
              </a:ext>
            </a:extLst>
          </p:cNvPr>
          <p:cNvSpPr/>
          <p:nvPr/>
        </p:nvSpPr>
        <p:spPr>
          <a:xfrm>
            <a:off x="4326716" y="228465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6FA6E3F-2806-38F4-84B2-81802074F1B2}"/>
              </a:ext>
            </a:extLst>
          </p:cNvPr>
          <p:cNvCxnSpPr>
            <a:cxnSpLocks/>
          </p:cNvCxnSpPr>
          <p:nvPr/>
        </p:nvCxnSpPr>
        <p:spPr>
          <a:xfrm>
            <a:off x="6869117" y="215477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FF53B06-37EA-C1A8-ABC5-8B8ADC7FC1EF}"/>
              </a:ext>
            </a:extLst>
          </p:cNvPr>
          <p:cNvCxnSpPr>
            <a:cxnSpLocks/>
          </p:cNvCxnSpPr>
          <p:nvPr/>
        </p:nvCxnSpPr>
        <p:spPr>
          <a:xfrm>
            <a:off x="8445378" y="282094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0C50494-02BF-1004-8A9A-CAF94923219F}"/>
              </a:ext>
            </a:extLst>
          </p:cNvPr>
          <p:cNvCxnSpPr>
            <a:cxnSpLocks/>
          </p:cNvCxnSpPr>
          <p:nvPr/>
        </p:nvCxnSpPr>
        <p:spPr>
          <a:xfrm>
            <a:off x="7493126" y="3693426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2792E22-B595-8B9E-067F-82154A4B7D85}"/>
              </a:ext>
            </a:extLst>
          </p:cNvPr>
          <p:cNvCxnSpPr>
            <a:cxnSpLocks/>
          </p:cNvCxnSpPr>
          <p:nvPr/>
        </p:nvCxnSpPr>
        <p:spPr>
          <a:xfrm>
            <a:off x="8552976" y="2234979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A2BF1C2-C0F7-9D47-B079-DD748F86546B}"/>
              </a:ext>
            </a:extLst>
          </p:cNvPr>
          <p:cNvCxnSpPr>
            <a:cxnSpLocks/>
          </p:cNvCxnSpPr>
          <p:nvPr/>
        </p:nvCxnSpPr>
        <p:spPr>
          <a:xfrm>
            <a:off x="8273323" y="4481188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FF6F8B4-96FC-E56F-6AF9-538BC17311E5}"/>
              </a:ext>
            </a:extLst>
          </p:cNvPr>
          <p:cNvCxnSpPr>
            <a:cxnSpLocks/>
          </p:cNvCxnSpPr>
          <p:nvPr/>
        </p:nvCxnSpPr>
        <p:spPr>
          <a:xfrm>
            <a:off x="3391073" y="2590825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5997DD4-8BE5-80BD-D9EC-DDDF1C3580C2}"/>
              </a:ext>
            </a:extLst>
          </p:cNvPr>
          <p:cNvCxnSpPr>
            <a:cxnSpLocks/>
          </p:cNvCxnSpPr>
          <p:nvPr/>
        </p:nvCxnSpPr>
        <p:spPr>
          <a:xfrm>
            <a:off x="7825485" y="3150007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51DDD1E-1118-9F7C-0740-8FC52ECA0B23}"/>
              </a:ext>
            </a:extLst>
          </p:cNvPr>
          <p:cNvCxnSpPr>
            <a:cxnSpLocks/>
          </p:cNvCxnSpPr>
          <p:nvPr/>
        </p:nvCxnSpPr>
        <p:spPr>
          <a:xfrm>
            <a:off x="8461216" y="4024499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5C8C82F-ED2D-A82C-932C-4766583CCFD2}"/>
              </a:ext>
            </a:extLst>
          </p:cNvPr>
          <p:cNvCxnSpPr>
            <a:cxnSpLocks/>
          </p:cNvCxnSpPr>
          <p:nvPr/>
        </p:nvCxnSpPr>
        <p:spPr>
          <a:xfrm>
            <a:off x="4214969" y="4123856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8B657B5-9331-6AFC-577F-CEB569422AB5}"/>
              </a:ext>
            </a:extLst>
          </p:cNvPr>
          <p:cNvCxnSpPr>
            <a:cxnSpLocks/>
          </p:cNvCxnSpPr>
          <p:nvPr/>
        </p:nvCxnSpPr>
        <p:spPr>
          <a:xfrm>
            <a:off x="9725837" y="221976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9DDAFEC-657D-0D1F-78A1-34D67462DDDB}"/>
              </a:ext>
            </a:extLst>
          </p:cNvPr>
          <p:cNvSpPr txBox="1"/>
          <p:nvPr/>
        </p:nvSpPr>
        <p:spPr>
          <a:xfrm>
            <a:off x="3635164" y="3101690"/>
            <a:ext cx="1279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Solid Phase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61B24B-60F8-B22D-9E7C-8803901740D1}"/>
              </a:ext>
            </a:extLst>
          </p:cNvPr>
          <p:cNvSpPr txBox="1"/>
          <p:nvPr/>
        </p:nvSpPr>
        <p:spPr>
          <a:xfrm>
            <a:off x="5345502" y="1700396"/>
            <a:ext cx="16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Solution Phase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E10B86-4A6C-6D18-519F-F49701BFB56C}"/>
              </a:ext>
            </a:extLst>
          </p:cNvPr>
          <p:cNvSpPr txBox="1"/>
          <p:nvPr/>
        </p:nvSpPr>
        <p:spPr>
          <a:xfrm>
            <a:off x="10034351" y="2096479"/>
            <a:ext cx="2008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Low mass C (e.g., acetate)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FF7FAB-525E-43AC-3357-675F44195E66}"/>
              </a:ext>
            </a:extLst>
          </p:cNvPr>
          <p:cNvSpPr txBox="1"/>
          <p:nvPr/>
        </p:nvSpPr>
        <p:spPr>
          <a:xfrm>
            <a:off x="10034351" y="2404587"/>
            <a:ext cx="1916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Colloids (mineral, organic, mineral/organic)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2EE190-A758-FB96-4ADA-015E0F225241}"/>
              </a:ext>
            </a:extLst>
          </p:cNvPr>
          <p:cNvSpPr txBox="1"/>
          <p:nvPr/>
        </p:nvSpPr>
        <p:spPr>
          <a:xfrm>
            <a:off x="10034351" y="2908080"/>
            <a:ext cx="1871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Organic macromolecule (dispersed/random coil)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B91D3B-7FF5-4D2C-904E-746045895007}"/>
              </a:ext>
            </a:extLst>
          </p:cNvPr>
          <p:cNvSpPr txBox="1"/>
          <p:nvPr/>
        </p:nvSpPr>
        <p:spPr>
          <a:xfrm>
            <a:off x="10034351" y="3474666"/>
            <a:ext cx="1871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Organic macromolecule (aggregated)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22AE895C-EA84-C9A8-EF51-258B91D5D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51" y="2143172"/>
            <a:ext cx="2635485" cy="2505316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3CB9FBB-E150-799F-F061-FCF75801E742}"/>
              </a:ext>
            </a:extLst>
          </p:cNvPr>
          <p:cNvSpPr/>
          <p:nvPr/>
        </p:nvSpPr>
        <p:spPr>
          <a:xfrm>
            <a:off x="902259" y="2163154"/>
            <a:ext cx="174669" cy="2381250"/>
          </a:xfrm>
          <a:prstGeom prst="roundRect">
            <a:avLst/>
          </a:prstGeom>
          <a:solidFill>
            <a:srgbClr val="C0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7C1063-E500-C0F4-D780-4E16844C00FF}"/>
              </a:ext>
            </a:extLst>
          </p:cNvPr>
          <p:cNvSpPr txBox="1"/>
          <p:nvPr/>
        </p:nvSpPr>
        <p:spPr>
          <a:xfrm>
            <a:off x="847904" y="399567"/>
            <a:ext cx="1012033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Treatment </a:t>
            </a:r>
          </a:p>
          <a:p>
            <a:pPr algn="ctr"/>
            <a:r>
              <a:rPr lang="en-US" dirty="0"/>
              <a:t>Introduction of brackish (high ionic strength) water disrupts previous sorption/desorption equilibrium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0CACA53-EDA4-823F-13E3-D9D6E7C1C386}"/>
              </a:ext>
            </a:extLst>
          </p:cNvPr>
          <p:cNvSpPr/>
          <p:nvPr/>
        </p:nvSpPr>
        <p:spPr>
          <a:xfrm>
            <a:off x="3183517" y="3334273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8B1819E-10E3-F58B-A827-F192A4CC0094}"/>
              </a:ext>
            </a:extLst>
          </p:cNvPr>
          <p:cNvSpPr/>
          <p:nvPr/>
        </p:nvSpPr>
        <p:spPr>
          <a:xfrm>
            <a:off x="4940476" y="3896193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F67CB97-EAD1-8A3C-AD54-8CAF2C17B4F1}"/>
              </a:ext>
            </a:extLst>
          </p:cNvPr>
          <p:cNvSpPr/>
          <p:nvPr/>
        </p:nvSpPr>
        <p:spPr>
          <a:xfrm>
            <a:off x="5050791" y="275230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0F524F-8B1F-0023-C31A-9007E704BB53}"/>
              </a:ext>
            </a:extLst>
          </p:cNvPr>
          <p:cNvSpPr txBox="1"/>
          <p:nvPr/>
        </p:nvSpPr>
        <p:spPr>
          <a:xfrm>
            <a:off x="846278" y="5339522"/>
            <a:ext cx="110598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Little effect on low mass C molecules, they essentially remain in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Organic macromolecules preferentially sorbed/aggregated, thereby removed from solution (“salted out”)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Colloids previously in solution aggregate and associate with the solids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Depending on composition (Ca</a:t>
            </a:r>
            <a:r>
              <a:rPr lang="en-US" sz="1600" baseline="30000" dirty="0">
                <a:solidFill>
                  <a:srgbClr val="0070C0"/>
                </a:solidFill>
              </a:rPr>
              <a:t>2+</a:t>
            </a:r>
            <a:r>
              <a:rPr lang="en-US" sz="1600" dirty="0">
                <a:solidFill>
                  <a:srgbClr val="0070C0"/>
                </a:solidFill>
              </a:rPr>
              <a:t>:Na</a:t>
            </a:r>
            <a:r>
              <a:rPr lang="en-US" sz="1600" baseline="30000" dirty="0">
                <a:solidFill>
                  <a:srgbClr val="0070C0"/>
                </a:solidFill>
              </a:rPr>
              <a:t>+</a:t>
            </a:r>
            <a:r>
              <a:rPr lang="en-US" sz="1600" dirty="0">
                <a:solidFill>
                  <a:srgbClr val="0070C0"/>
                </a:solidFill>
              </a:rPr>
              <a:t>) of the treatment water, extent of Ca bridging may increase or decrease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2B10B01-11BD-7C19-7C7B-F53243EFCDAF}"/>
              </a:ext>
            </a:extLst>
          </p:cNvPr>
          <p:cNvSpPr/>
          <p:nvPr/>
        </p:nvSpPr>
        <p:spPr>
          <a:xfrm>
            <a:off x="4865980" y="3883328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733B7C-2627-4EE2-E9AB-FF534A00272D}"/>
              </a:ext>
            </a:extLst>
          </p:cNvPr>
          <p:cNvSpPr/>
          <p:nvPr/>
        </p:nvSpPr>
        <p:spPr>
          <a:xfrm>
            <a:off x="4228184" y="2257389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31D12E-2684-0D48-D484-F2A3652BFF39}"/>
              </a:ext>
            </a:extLst>
          </p:cNvPr>
          <p:cNvSpPr/>
          <p:nvPr/>
        </p:nvSpPr>
        <p:spPr>
          <a:xfrm>
            <a:off x="3884489" y="4099651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5CD950-F3B1-D522-1EC7-A0A23B86963B}"/>
              </a:ext>
            </a:extLst>
          </p:cNvPr>
          <p:cNvSpPr/>
          <p:nvPr/>
        </p:nvSpPr>
        <p:spPr>
          <a:xfrm>
            <a:off x="7629435" y="2799091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EB1DCC-CA16-6F1F-ADF7-1441BD3AD3FB}"/>
              </a:ext>
            </a:extLst>
          </p:cNvPr>
          <p:cNvSpPr/>
          <p:nvPr/>
        </p:nvSpPr>
        <p:spPr>
          <a:xfrm>
            <a:off x="4565375" y="3896193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B57C28-4321-A1CD-D95C-2DB5D87EECDE}"/>
              </a:ext>
            </a:extLst>
          </p:cNvPr>
          <p:cNvSpPr/>
          <p:nvPr/>
        </p:nvSpPr>
        <p:spPr>
          <a:xfrm>
            <a:off x="4708280" y="2419484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0AE82CD-0D08-F023-C4A2-38BB7A7B5518}"/>
              </a:ext>
            </a:extLst>
          </p:cNvPr>
          <p:cNvSpPr/>
          <p:nvPr/>
        </p:nvSpPr>
        <p:spPr>
          <a:xfrm>
            <a:off x="4478441" y="2284051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38C9708-E829-1B75-B168-0A592F7D9A5C}"/>
              </a:ext>
            </a:extLst>
          </p:cNvPr>
          <p:cNvSpPr/>
          <p:nvPr/>
        </p:nvSpPr>
        <p:spPr>
          <a:xfrm>
            <a:off x="3498311" y="3905287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3368CC3-211C-6424-B6D7-6C6A96BC69D1}"/>
              </a:ext>
            </a:extLst>
          </p:cNvPr>
          <p:cNvSpPr/>
          <p:nvPr/>
        </p:nvSpPr>
        <p:spPr>
          <a:xfrm>
            <a:off x="3782848" y="4084961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1D99892-FAA8-8A9F-601F-BF05BA549CA6}"/>
              </a:ext>
            </a:extLst>
          </p:cNvPr>
          <p:cNvSpPr/>
          <p:nvPr/>
        </p:nvSpPr>
        <p:spPr>
          <a:xfrm>
            <a:off x="3230454" y="3579962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163AE56-42ED-FC4B-A313-DF56535B8E1E}"/>
              </a:ext>
            </a:extLst>
          </p:cNvPr>
          <p:cNvSpPr/>
          <p:nvPr/>
        </p:nvSpPr>
        <p:spPr>
          <a:xfrm>
            <a:off x="3084770" y="2960381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850604A-D769-3D22-C644-6203855EA75E}"/>
              </a:ext>
            </a:extLst>
          </p:cNvPr>
          <p:cNvSpPr/>
          <p:nvPr/>
        </p:nvSpPr>
        <p:spPr>
          <a:xfrm>
            <a:off x="3198480" y="2672662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85AA0DA-9E52-FC7B-B531-AC00A125AD7E}"/>
              </a:ext>
            </a:extLst>
          </p:cNvPr>
          <p:cNvCxnSpPr>
            <a:cxnSpLocks/>
          </p:cNvCxnSpPr>
          <p:nvPr/>
        </p:nvCxnSpPr>
        <p:spPr>
          <a:xfrm flipH="1">
            <a:off x="1076928" y="727222"/>
            <a:ext cx="3863548" cy="13845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74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1172-6532-D002-7A67-5C00F3B9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22EA90-F09F-6D96-367A-90735F775425}"/>
              </a:ext>
            </a:extLst>
          </p:cNvPr>
          <p:cNvSpPr/>
          <p:nvPr/>
        </p:nvSpPr>
        <p:spPr>
          <a:xfrm>
            <a:off x="2705099" y="1637157"/>
            <a:ext cx="6571753" cy="3401568"/>
          </a:xfrm>
          <a:prstGeom prst="round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DD0E86-8ACA-C7FD-F700-7EA94F337695}"/>
              </a:ext>
            </a:extLst>
          </p:cNvPr>
          <p:cNvSpPr/>
          <p:nvPr/>
        </p:nvSpPr>
        <p:spPr>
          <a:xfrm>
            <a:off x="3319319" y="2371726"/>
            <a:ext cx="1865745" cy="1791854"/>
          </a:xfrm>
          <a:prstGeom prst="ellipse">
            <a:avLst/>
          </a:prstGeom>
          <a:solidFill>
            <a:srgbClr val="CC9900"/>
          </a:solidFill>
          <a:ln w="31750"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FB04D60-196D-33A6-84C1-D051C67BA823}"/>
              </a:ext>
            </a:extLst>
          </p:cNvPr>
          <p:cNvSpPr/>
          <p:nvPr/>
        </p:nvSpPr>
        <p:spPr>
          <a:xfrm>
            <a:off x="9610504" y="2926011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FB2C50-3DB8-8D6B-3BB6-FAA42EF889E7}"/>
              </a:ext>
            </a:extLst>
          </p:cNvPr>
          <p:cNvSpPr/>
          <p:nvPr/>
        </p:nvSpPr>
        <p:spPr>
          <a:xfrm>
            <a:off x="9666578" y="3575448"/>
            <a:ext cx="341746" cy="296356"/>
          </a:xfrm>
          <a:custGeom>
            <a:avLst/>
            <a:gdLst>
              <a:gd name="csX0" fmla="*/ 184727 w 341746"/>
              <a:gd name="csY0" fmla="*/ 46520 h 296356"/>
              <a:gd name="csX1" fmla="*/ 175491 w 341746"/>
              <a:gd name="csY1" fmla="*/ 338 h 296356"/>
              <a:gd name="csX2" fmla="*/ 138546 w 341746"/>
              <a:gd name="csY2" fmla="*/ 37284 h 296356"/>
              <a:gd name="csX3" fmla="*/ 166255 w 341746"/>
              <a:gd name="csY3" fmla="*/ 55757 h 296356"/>
              <a:gd name="csX4" fmla="*/ 203200 w 341746"/>
              <a:gd name="csY4" fmla="*/ 83466 h 296356"/>
              <a:gd name="csX5" fmla="*/ 221673 w 341746"/>
              <a:gd name="csY5" fmla="*/ 120411 h 296356"/>
              <a:gd name="csX6" fmla="*/ 240146 w 341746"/>
              <a:gd name="csY6" fmla="*/ 185066 h 296356"/>
              <a:gd name="csX7" fmla="*/ 230909 w 341746"/>
              <a:gd name="csY7" fmla="*/ 222011 h 296356"/>
              <a:gd name="csX8" fmla="*/ 129309 w 341746"/>
              <a:gd name="csY8" fmla="*/ 175829 h 296356"/>
              <a:gd name="csX9" fmla="*/ 175491 w 341746"/>
              <a:gd name="csY9" fmla="*/ 148120 h 296356"/>
              <a:gd name="csX10" fmla="*/ 286327 w 341746"/>
              <a:gd name="csY10" fmla="*/ 83466 h 296356"/>
              <a:gd name="csX11" fmla="*/ 277091 w 341746"/>
              <a:gd name="csY11" fmla="*/ 46520 h 296356"/>
              <a:gd name="csX12" fmla="*/ 249382 w 341746"/>
              <a:gd name="csY12" fmla="*/ 37284 h 296356"/>
              <a:gd name="csX13" fmla="*/ 166255 w 341746"/>
              <a:gd name="csY13" fmla="*/ 28048 h 296356"/>
              <a:gd name="csX14" fmla="*/ 101600 w 341746"/>
              <a:gd name="csY14" fmla="*/ 37284 h 296356"/>
              <a:gd name="csX15" fmla="*/ 110836 w 341746"/>
              <a:gd name="csY15" fmla="*/ 92702 h 296356"/>
              <a:gd name="csX16" fmla="*/ 221673 w 341746"/>
              <a:gd name="csY16" fmla="*/ 120411 h 296356"/>
              <a:gd name="csX17" fmla="*/ 286327 w 341746"/>
              <a:gd name="csY17" fmla="*/ 138884 h 296356"/>
              <a:gd name="csX18" fmla="*/ 341746 w 341746"/>
              <a:gd name="csY18" fmla="*/ 231248 h 296356"/>
              <a:gd name="csX19" fmla="*/ 295564 w 341746"/>
              <a:gd name="csY19" fmla="*/ 295902 h 296356"/>
              <a:gd name="csX20" fmla="*/ 258618 w 341746"/>
              <a:gd name="csY20" fmla="*/ 277429 h 296356"/>
              <a:gd name="csX21" fmla="*/ 249382 w 341746"/>
              <a:gd name="csY21" fmla="*/ 249720 h 296356"/>
              <a:gd name="csX22" fmla="*/ 212436 w 341746"/>
              <a:gd name="csY22" fmla="*/ 240484 h 296356"/>
              <a:gd name="csX23" fmla="*/ 203200 w 341746"/>
              <a:gd name="csY23" fmla="*/ 194302 h 296356"/>
              <a:gd name="csX24" fmla="*/ 295564 w 341746"/>
              <a:gd name="csY24" fmla="*/ 157357 h 296356"/>
              <a:gd name="csX25" fmla="*/ 314036 w 341746"/>
              <a:gd name="csY25" fmla="*/ 129648 h 296356"/>
              <a:gd name="csX26" fmla="*/ 267855 w 341746"/>
              <a:gd name="csY26" fmla="*/ 101938 h 296356"/>
              <a:gd name="csX27" fmla="*/ 240146 w 341746"/>
              <a:gd name="csY27" fmla="*/ 148120 h 296356"/>
              <a:gd name="csX28" fmla="*/ 184727 w 341746"/>
              <a:gd name="csY28" fmla="*/ 222011 h 296356"/>
              <a:gd name="csX29" fmla="*/ 101600 w 341746"/>
              <a:gd name="csY29" fmla="*/ 231248 h 296356"/>
              <a:gd name="csX30" fmla="*/ 18473 w 341746"/>
              <a:gd name="csY30" fmla="*/ 212775 h 296356"/>
              <a:gd name="csX31" fmla="*/ 9236 w 341746"/>
              <a:gd name="csY31" fmla="*/ 185066 h 296356"/>
              <a:gd name="csX32" fmla="*/ 0 w 341746"/>
              <a:gd name="csY32" fmla="*/ 148120 h 296356"/>
              <a:gd name="csX33" fmla="*/ 147782 w 341746"/>
              <a:gd name="csY33" fmla="*/ 111175 h 296356"/>
              <a:gd name="csX34" fmla="*/ 157018 w 341746"/>
              <a:gd name="csY34" fmla="*/ 148120 h 296356"/>
              <a:gd name="csX35" fmla="*/ 184727 w 341746"/>
              <a:gd name="csY35" fmla="*/ 175829 h 296356"/>
              <a:gd name="csX36" fmla="*/ 203200 w 341746"/>
              <a:gd name="csY36" fmla="*/ 258957 h 296356"/>
              <a:gd name="csX37" fmla="*/ 193964 w 341746"/>
              <a:gd name="csY37" fmla="*/ 286666 h 296356"/>
              <a:gd name="csX38" fmla="*/ 193964 w 341746"/>
              <a:gd name="csY38" fmla="*/ 166593 h 296356"/>
              <a:gd name="csX39" fmla="*/ 249382 w 341746"/>
              <a:gd name="csY39" fmla="*/ 92702 h 296356"/>
              <a:gd name="csX40" fmla="*/ 230909 w 341746"/>
              <a:gd name="csY40" fmla="*/ 28048 h 296356"/>
              <a:gd name="csX41" fmla="*/ 221673 w 341746"/>
              <a:gd name="csY41" fmla="*/ 55757 h 296356"/>
              <a:gd name="csX42" fmla="*/ 212436 w 341746"/>
              <a:gd name="csY42" fmla="*/ 92702 h 2963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341746" h="296356">
                <a:moveTo>
                  <a:pt x="184727" y="46520"/>
                </a:moveTo>
                <a:cubicBezTo>
                  <a:pt x="181648" y="31126"/>
                  <a:pt x="190885" y="3417"/>
                  <a:pt x="175491" y="338"/>
                </a:cubicBezTo>
                <a:cubicBezTo>
                  <a:pt x="158413" y="-3078"/>
                  <a:pt x="141409" y="20105"/>
                  <a:pt x="138546" y="37284"/>
                </a:cubicBezTo>
                <a:cubicBezTo>
                  <a:pt x="136721" y="48234"/>
                  <a:pt x="157222" y="49305"/>
                  <a:pt x="166255" y="55757"/>
                </a:cubicBezTo>
                <a:cubicBezTo>
                  <a:pt x="178781" y="64705"/>
                  <a:pt x="190885" y="74230"/>
                  <a:pt x="203200" y="83466"/>
                </a:cubicBezTo>
                <a:cubicBezTo>
                  <a:pt x="209358" y="95781"/>
                  <a:pt x="216249" y="107756"/>
                  <a:pt x="221673" y="120411"/>
                </a:cubicBezTo>
                <a:cubicBezTo>
                  <a:pt x="229622" y="138957"/>
                  <a:pt x="235460" y="166324"/>
                  <a:pt x="240146" y="185066"/>
                </a:cubicBezTo>
                <a:cubicBezTo>
                  <a:pt x="237067" y="197381"/>
                  <a:pt x="243068" y="218363"/>
                  <a:pt x="230909" y="222011"/>
                </a:cubicBezTo>
                <a:cubicBezTo>
                  <a:pt x="151402" y="245863"/>
                  <a:pt x="151704" y="220619"/>
                  <a:pt x="129309" y="175829"/>
                </a:cubicBezTo>
                <a:cubicBezTo>
                  <a:pt x="144703" y="166593"/>
                  <a:pt x="159044" y="155316"/>
                  <a:pt x="175491" y="148120"/>
                </a:cubicBezTo>
                <a:cubicBezTo>
                  <a:pt x="289433" y="98271"/>
                  <a:pt x="264833" y="147950"/>
                  <a:pt x="286327" y="83466"/>
                </a:cubicBezTo>
                <a:cubicBezTo>
                  <a:pt x="283248" y="71151"/>
                  <a:pt x="285021" y="56433"/>
                  <a:pt x="277091" y="46520"/>
                </a:cubicBezTo>
                <a:cubicBezTo>
                  <a:pt x="271009" y="38917"/>
                  <a:pt x="258985" y="38885"/>
                  <a:pt x="249382" y="37284"/>
                </a:cubicBezTo>
                <a:cubicBezTo>
                  <a:pt x="221882" y="32701"/>
                  <a:pt x="193964" y="31127"/>
                  <a:pt x="166255" y="28048"/>
                </a:cubicBezTo>
                <a:lnTo>
                  <a:pt x="101600" y="37284"/>
                </a:lnTo>
                <a:cubicBezTo>
                  <a:pt x="89412" y="51503"/>
                  <a:pt x="100910" y="76821"/>
                  <a:pt x="110836" y="92702"/>
                </a:cubicBezTo>
                <a:cubicBezTo>
                  <a:pt x="125874" y="116762"/>
                  <a:pt x="213638" y="119407"/>
                  <a:pt x="221673" y="120411"/>
                </a:cubicBezTo>
                <a:cubicBezTo>
                  <a:pt x="223345" y="120829"/>
                  <a:pt x="280873" y="134209"/>
                  <a:pt x="286327" y="138884"/>
                </a:cubicBezTo>
                <a:cubicBezTo>
                  <a:pt x="322319" y="169734"/>
                  <a:pt x="325465" y="190545"/>
                  <a:pt x="341746" y="231248"/>
                </a:cubicBezTo>
                <a:cubicBezTo>
                  <a:pt x="334189" y="253919"/>
                  <a:pt x="334748" y="301500"/>
                  <a:pt x="295564" y="295902"/>
                </a:cubicBezTo>
                <a:cubicBezTo>
                  <a:pt x="281933" y="293955"/>
                  <a:pt x="270933" y="283587"/>
                  <a:pt x="258618" y="277429"/>
                </a:cubicBezTo>
                <a:cubicBezTo>
                  <a:pt x="255539" y="268193"/>
                  <a:pt x="256985" y="255802"/>
                  <a:pt x="249382" y="249720"/>
                </a:cubicBezTo>
                <a:cubicBezTo>
                  <a:pt x="239469" y="241790"/>
                  <a:pt x="220563" y="250236"/>
                  <a:pt x="212436" y="240484"/>
                </a:cubicBezTo>
                <a:cubicBezTo>
                  <a:pt x="202386" y="228424"/>
                  <a:pt x="206279" y="209696"/>
                  <a:pt x="203200" y="194302"/>
                </a:cubicBezTo>
                <a:cubicBezTo>
                  <a:pt x="220423" y="188561"/>
                  <a:pt x="277446" y="172455"/>
                  <a:pt x="295564" y="157357"/>
                </a:cubicBezTo>
                <a:cubicBezTo>
                  <a:pt x="304092" y="150251"/>
                  <a:pt x="307879" y="138884"/>
                  <a:pt x="314036" y="129648"/>
                </a:cubicBezTo>
                <a:cubicBezTo>
                  <a:pt x="304023" y="109621"/>
                  <a:pt x="299566" y="70227"/>
                  <a:pt x="267855" y="101938"/>
                </a:cubicBezTo>
                <a:cubicBezTo>
                  <a:pt x="255161" y="114632"/>
                  <a:pt x="247575" y="131777"/>
                  <a:pt x="240146" y="148120"/>
                </a:cubicBezTo>
                <a:cubicBezTo>
                  <a:pt x="218556" y="195617"/>
                  <a:pt x="238214" y="209667"/>
                  <a:pt x="184727" y="222011"/>
                </a:cubicBezTo>
                <a:cubicBezTo>
                  <a:pt x="157561" y="228280"/>
                  <a:pt x="129309" y="228169"/>
                  <a:pt x="101600" y="231248"/>
                </a:cubicBezTo>
                <a:cubicBezTo>
                  <a:pt x="73891" y="225090"/>
                  <a:pt x="43861" y="225469"/>
                  <a:pt x="18473" y="212775"/>
                </a:cubicBezTo>
                <a:cubicBezTo>
                  <a:pt x="9765" y="208421"/>
                  <a:pt x="11911" y="194427"/>
                  <a:pt x="9236" y="185066"/>
                </a:cubicBezTo>
                <a:cubicBezTo>
                  <a:pt x="5749" y="172860"/>
                  <a:pt x="3079" y="160435"/>
                  <a:pt x="0" y="148120"/>
                </a:cubicBezTo>
                <a:cubicBezTo>
                  <a:pt x="21385" y="83962"/>
                  <a:pt x="11343" y="85593"/>
                  <a:pt x="147782" y="111175"/>
                </a:cubicBezTo>
                <a:cubicBezTo>
                  <a:pt x="160259" y="113514"/>
                  <a:pt x="150720" y="137099"/>
                  <a:pt x="157018" y="148120"/>
                </a:cubicBezTo>
                <a:cubicBezTo>
                  <a:pt x="163499" y="159461"/>
                  <a:pt x="175491" y="166593"/>
                  <a:pt x="184727" y="175829"/>
                </a:cubicBezTo>
                <a:cubicBezTo>
                  <a:pt x="188290" y="190081"/>
                  <a:pt x="203200" y="247226"/>
                  <a:pt x="203200" y="258957"/>
                </a:cubicBezTo>
                <a:cubicBezTo>
                  <a:pt x="203200" y="268693"/>
                  <a:pt x="197043" y="277430"/>
                  <a:pt x="193964" y="286666"/>
                </a:cubicBezTo>
                <a:cubicBezTo>
                  <a:pt x="182916" y="242478"/>
                  <a:pt x="172450" y="218840"/>
                  <a:pt x="193964" y="166593"/>
                </a:cubicBezTo>
                <a:cubicBezTo>
                  <a:pt x="205687" y="138124"/>
                  <a:pt x="249382" y="92702"/>
                  <a:pt x="249382" y="92702"/>
                </a:cubicBezTo>
                <a:cubicBezTo>
                  <a:pt x="243224" y="71151"/>
                  <a:pt x="244357" y="45979"/>
                  <a:pt x="230909" y="28048"/>
                </a:cubicBezTo>
                <a:cubicBezTo>
                  <a:pt x="225067" y="20259"/>
                  <a:pt x="224348" y="46396"/>
                  <a:pt x="221673" y="55757"/>
                </a:cubicBezTo>
                <a:cubicBezTo>
                  <a:pt x="218186" y="67963"/>
                  <a:pt x="212436" y="92702"/>
                  <a:pt x="212436" y="927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102B9DA-A1E0-3621-0AF2-1B3D79136FCD}"/>
              </a:ext>
            </a:extLst>
          </p:cNvPr>
          <p:cNvSpPr/>
          <p:nvPr/>
        </p:nvSpPr>
        <p:spPr>
          <a:xfrm>
            <a:off x="5659009" y="3143028"/>
            <a:ext cx="1465029" cy="101828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0561933-D3E0-D587-3D49-79A351BE1FD7}"/>
              </a:ext>
            </a:extLst>
          </p:cNvPr>
          <p:cNvSpPr/>
          <p:nvPr/>
        </p:nvSpPr>
        <p:spPr>
          <a:xfrm rot="10800000">
            <a:off x="5659009" y="2967849"/>
            <a:ext cx="1465028" cy="97848"/>
          </a:xfrm>
          <a:prstGeom prst="rightArrow">
            <a:avLst/>
          </a:prstGeom>
          <a:solidFill>
            <a:srgbClr val="CC9900"/>
          </a:solidFill>
          <a:ln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B4F62B-F4BD-1107-A6BA-B757F989F3FA}"/>
              </a:ext>
            </a:extLst>
          </p:cNvPr>
          <p:cNvSpPr txBox="1"/>
          <p:nvPr/>
        </p:nvSpPr>
        <p:spPr>
          <a:xfrm>
            <a:off x="5908058" y="2715840"/>
            <a:ext cx="966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sorption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AEA1FE-535F-328E-B9A1-A02F4F359F4B}"/>
              </a:ext>
            </a:extLst>
          </p:cNvPr>
          <p:cNvSpPr txBox="1"/>
          <p:nvPr/>
        </p:nvSpPr>
        <p:spPr>
          <a:xfrm>
            <a:off x="5709579" y="3444527"/>
            <a:ext cx="1317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desorption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384AABD-4686-F3A3-67AB-91DB9A0C6AF7}"/>
              </a:ext>
            </a:extLst>
          </p:cNvPr>
          <p:cNvSpPr/>
          <p:nvPr/>
        </p:nvSpPr>
        <p:spPr>
          <a:xfrm>
            <a:off x="8002476" y="1735320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BB85915-3F58-94D6-FA16-EEEBDCAE6E83}"/>
              </a:ext>
            </a:extLst>
          </p:cNvPr>
          <p:cNvSpPr/>
          <p:nvPr/>
        </p:nvSpPr>
        <p:spPr>
          <a:xfrm>
            <a:off x="8644736" y="4381133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8BDD3E7-E16C-C283-08E0-F367C95289AF}"/>
              </a:ext>
            </a:extLst>
          </p:cNvPr>
          <p:cNvSpPr/>
          <p:nvPr/>
        </p:nvSpPr>
        <p:spPr>
          <a:xfrm>
            <a:off x="8412771" y="3145048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7475390-3A15-2C5F-F995-A7081B274C74}"/>
              </a:ext>
            </a:extLst>
          </p:cNvPr>
          <p:cNvSpPr/>
          <p:nvPr/>
        </p:nvSpPr>
        <p:spPr>
          <a:xfrm>
            <a:off x="6989383" y="4214379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8188A61-8EDB-AAF2-DBF3-1E4CD90DB1D9}"/>
              </a:ext>
            </a:extLst>
          </p:cNvPr>
          <p:cNvSpPr/>
          <p:nvPr/>
        </p:nvSpPr>
        <p:spPr>
          <a:xfrm>
            <a:off x="7166614" y="2209347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E63CB16-023F-DAAB-B470-083F71CA72D0}"/>
              </a:ext>
            </a:extLst>
          </p:cNvPr>
          <p:cNvSpPr/>
          <p:nvPr/>
        </p:nvSpPr>
        <p:spPr>
          <a:xfrm rot="16610599">
            <a:off x="7892718" y="3529820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5E120F2-232E-5E5D-5FB4-83839EABF1A9}"/>
              </a:ext>
            </a:extLst>
          </p:cNvPr>
          <p:cNvSpPr/>
          <p:nvPr/>
        </p:nvSpPr>
        <p:spPr>
          <a:xfrm rot="18454194">
            <a:off x="3330549" y="3679221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3FAA613-9DB0-D063-6569-4E4D39E17B01}"/>
              </a:ext>
            </a:extLst>
          </p:cNvPr>
          <p:cNvSpPr/>
          <p:nvPr/>
        </p:nvSpPr>
        <p:spPr>
          <a:xfrm>
            <a:off x="7967694" y="2363104"/>
            <a:ext cx="463931" cy="434109"/>
          </a:xfrm>
          <a:custGeom>
            <a:avLst/>
            <a:gdLst>
              <a:gd name="csX0" fmla="*/ 0 w 463931"/>
              <a:gd name="csY0" fmla="*/ 277091 h 434109"/>
              <a:gd name="csX1" fmla="*/ 18473 w 463931"/>
              <a:gd name="csY1" fmla="*/ 230909 h 434109"/>
              <a:gd name="csX2" fmla="*/ 73891 w 463931"/>
              <a:gd name="csY2" fmla="*/ 203200 h 434109"/>
              <a:gd name="csX3" fmla="*/ 101600 w 463931"/>
              <a:gd name="csY3" fmla="*/ 212436 h 434109"/>
              <a:gd name="csX4" fmla="*/ 138546 w 463931"/>
              <a:gd name="csY4" fmla="*/ 286327 h 434109"/>
              <a:gd name="csX5" fmla="*/ 147782 w 463931"/>
              <a:gd name="csY5" fmla="*/ 323273 h 434109"/>
              <a:gd name="csX6" fmla="*/ 175491 w 463931"/>
              <a:gd name="csY6" fmla="*/ 350982 h 434109"/>
              <a:gd name="csX7" fmla="*/ 193964 w 463931"/>
              <a:gd name="csY7" fmla="*/ 387927 h 434109"/>
              <a:gd name="csX8" fmla="*/ 267855 w 463931"/>
              <a:gd name="csY8" fmla="*/ 434109 h 434109"/>
              <a:gd name="csX9" fmla="*/ 304800 w 463931"/>
              <a:gd name="csY9" fmla="*/ 397164 h 434109"/>
              <a:gd name="csX10" fmla="*/ 378691 w 463931"/>
              <a:gd name="csY10" fmla="*/ 341745 h 434109"/>
              <a:gd name="csX11" fmla="*/ 378691 w 463931"/>
              <a:gd name="csY11" fmla="*/ 230909 h 434109"/>
              <a:gd name="csX12" fmla="*/ 360219 w 463931"/>
              <a:gd name="csY12" fmla="*/ 203200 h 434109"/>
              <a:gd name="csX13" fmla="*/ 350982 w 463931"/>
              <a:gd name="csY13" fmla="*/ 166255 h 434109"/>
              <a:gd name="csX14" fmla="*/ 277091 w 463931"/>
              <a:gd name="csY14" fmla="*/ 184727 h 434109"/>
              <a:gd name="csX15" fmla="*/ 203200 w 463931"/>
              <a:gd name="csY15" fmla="*/ 157018 h 434109"/>
              <a:gd name="csX16" fmla="*/ 166255 w 463931"/>
              <a:gd name="csY16" fmla="*/ 83127 h 434109"/>
              <a:gd name="csX17" fmla="*/ 175491 w 463931"/>
              <a:gd name="csY17" fmla="*/ 55418 h 434109"/>
              <a:gd name="csX18" fmla="*/ 267855 w 463931"/>
              <a:gd name="csY18" fmla="*/ 46182 h 434109"/>
              <a:gd name="csX19" fmla="*/ 286328 w 463931"/>
              <a:gd name="csY19" fmla="*/ 73891 h 434109"/>
              <a:gd name="csX20" fmla="*/ 332509 w 463931"/>
              <a:gd name="csY20" fmla="*/ 83127 h 434109"/>
              <a:gd name="csX21" fmla="*/ 434109 w 463931"/>
              <a:gd name="csY21" fmla="*/ 46182 h 434109"/>
              <a:gd name="csX22" fmla="*/ 461819 w 463931"/>
              <a:gd name="csY22" fmla="*/ 27709 h 434109"/>
              <a:gd name="csX23" fmla="*/ 461819 w 463931"/>
              <a:gd name="csY23" fmla="*/ 0 h 4341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3931" h="434109">
                <a:moveTo>
                  <a:pt x="0" y="277091"/>
                </a:moveTo>
                <a:cubicBezTo>
                  <a:pt x="6158" y="261697"/>
                  <a:pt x="8836" y="244401"/>
                  <a:pt x="18473" y="230909"/>
                </a:cubicBezTo>
                <a:cubicBezTo>
                  <a:pt x="29664" y="215241"/>
                  <a:pt x="57243" y="208749"/>
                  <a:pt x="73891" y="203200"/>
                </a:cubicBezTo>
                <a:cubicBezTo>
                  <a:pt x="83127" y="206279"/>
                  <a:pt x="94716" y="205552"/>
                  <a:pt x="101600" y="212436"/>
                </a:cubicBezTo>
                <a:cubicBezTo>
                  <a:pt x="120091" y="230927"/>
                  <a:pt x="131348" y="261132"/>
                  <a:pt x="138546" y="286327"/>
                </a:cubicBezTo>
                <a:cubicBezTo>
                  <a:pt x="142033" y="298533"/>
                  <a:pt x="141484" y="312251"/>
                  <a:pt x="147782" y="323273"/>
                </a:cubicBezTo>
                <a:cubicBezTo>
                  <a:pt x="154263" y="334614"/>
                  <a:pt x="167899" y="340353"/>
                  <a:pt x="175491" y="350982"/>
                </a:cubicBezTo>
                <a:cubicBezTo>
                  <a:pt x="183494" y="362186"/>
                  <a:pt x="185003" y="377473"/>
                  <a:pt x="193964" y="387927"/>
                </a:cubicBezTo>
                <a:cubicBezTo>
                  <a:pt x="211950" y="408910"/>
                  <a:pt x="243951" y="422157"/>
                  <a:pt x="267855" y="434109"/>
                </a:cubicBezTo>
                <a:cubicBezTo>
                  <a:pt x="341745" y="409480"/>
                  <a:pt x="255541" y="446424"/>
                  <a:pt x="304800" y="397164"/>
                </a:cubicBezTo>
                <a:cubicBezTo>
                  <a:pt x="326570" y="375393"/>
                  <a:pt x="378691" y="341745"/>
                  <a:pt x="378691" y="341745"/>
                </a:cubicBezTo>
                <a:cubicBezTo>
                  <a:pt x="394173" y="295303"/>
                  <a:pt x="396368" y="301619"/>
                  <a:pt x="378691" y="230909"/>
                </a:cubicBezTo>
                <a:cubicBezTo>
                  <a:pt x="375999" y="220140"/>
                  <a:pt x="366376" y="212436"/>
                  <a:pt x="360219" y="203200"/>
                </a:cubicBezTo>
                <a:cubicBezTo>
                  <a:pt x="357140" y="190885"/>
                  <a:pt x="362336" y="171932"/>
                  <a:pt x="350982" y="166255"/>
                </a:cubicBezTo>
                <a:cubicBezTo>
                  <a:pt x="342065" y="161797"/>
                  <a:pt x="290662" y="180204"/>
                  <a:pt x="277091" y="184727"/>
                </a:cubicBezTo>
                <a:cubicBezTo>
                  <a:pt x="252461" y="175491"/>
                  <a:pt x="224474" y="172490"/>
                  <a:pt x="203200" y="157018"/>
                </a:cubicBezTo>
                <a:cubicBezTo>
                  <a:pt x="184005" y="143058"/>
                  <a:pt x="173834" y="105865"/>
                  <a:pt x="166255" y="83127"/>
                </a:cubicBezTo>
                <a:cubicBezTo>
                  <a:pt x="169334" y="73891"/>
                  <a:pt x="169409" y="63021"/>
                  <a:pt x="175491" y="55418"/>
                </a:cubicBezTo>
                <a:cubicBezTo>
                  <a:pt x="202123" y="22127"/>
                  <a:pt x="229847" y="40752"/>
                  <a:pt x="267855" y="46182"/>
                </a:cubicBezTo>
                <a:cubicBezTo>
                  <a:pt x="274013" y="55418"/>
                  <a:pt x="276690" y="68384"/>
                  <a:pt x="286328" y="73891"/>
                </a:cubicBezTo>
                <a:cubicBezTo>
                  <a:pt x="299958" y="81680"/>
                  <a:pt x="316865" y="84431"/>
                  <a:pt x="332509" y="83127"/>
                </a:cubicBezTo>
                <a:cubicBezTo>
                  <a:pt x="364532" y="80458"/>
                  <a:pt x="405294" y="62648"/>
                  <a:pt x="434109" y="46182"/>
                </a:cubicBezTo>
                <a:cubicBezTo>
                  <a:pt x="443747" y="40674"/>
                  <a:pt x="456107" y="37228"/>
                  <a:pt x="461819" y="27709"/>
                </a:cubicBezTo>
                <a:cubicBezTo>
                  <a:pt x="466571" y="19789"/>
                  <a:pt x="461819" y="9236"/>
                  <a:pt x="46181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BBB145F-E0B4-9370-20B9-C56E90C20C5A}"/>
              </a:ext>
            </a:extLst>
          </p:cNvPr>
          <p:cNvSpPr/>
          <p:nvPr/>
        </p:nvSpPr>
        <p:spPr>
          <a:xfrm>
            <a:off x="8939281" y="3765329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EF372D-7778-17E0-953D-9EEB6E09A9FD}"/>
              </a:ext>
            </a:extLst>
          </p:cNvPr>
          <p:cNvSpPr/>
          <p:nvPr/>
        </p:nvSpPr>
        <p:spPr>
          <a:xfrm>
            <a:off x="7219554" y="3892249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26039A4-C251-094B-B0EA-ABC90419058B}"/>
              </a:ext>
            </a:extLst>
          </p:cNvPr>
          <p:cNvSpPr/>
          <p:nvPr/>
        </p:nvSpPr>
        <p:spPr>
          <a:xfrm>
            <a:off x="4989687" y="265238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58D8A11-138A-85E0-B3D7-7DEE10F40876}"/>
              </a:ext>
            </a:extLst>
          </p:cNvPr>
          <p:cNvSpPr/>
          <p:nvPr/>
        </p:nvSpPr>
        <p:spPr>
          <a:xfrm>
            <a:off x="4046103" y="412457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6084A05-6988-7443-439E-5E39DE275404}"/>
              </a:ext>
            </a:extLst>
          </p:cNvPr>
          <p:cNvSpPr/>
          <p:nvPr/>
        </p:nvSpPr>
        <p:spPr>
          <a:xfrm>
            <a:off x="4021161" y="228465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75D95B6-ECF2-1A3C-EB68-2A41F7D36712}"/>
              </a:ext>
            </a:extLst>
          </p:cNvPr>
          <p:cNvSpPr/>
          <p:nvPr/>
        </p:nvSpPr>
        <p:spPr>
          <a:xfrm>
            <a:off x="8582881" y="1928968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05180C3-98F5-5B03-D376-3DEA42E7B7C8}"/>
              </a:ext>
            </a:extLst>
          </p:cNvPr>
          <p:cNvSpPr/>
          <p:nvPr/>
        </p:nvSpPr>
        <p:spPr>
          <a:xfrm>
            <a:off x="4948262" y="3832879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1563AA8-F829-4585-14D7-527DCA08635A}"/>
              </a:ext>
            </a:extLst>
          </p:cNvPr>
          <p:cNvSpPr/>
          <p:nvPr/>
        </p:nvSpPr>
        <p:spPr>
          <a:xfrm>
            <a:off x="9788979" y="258040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8AF4888-7F3D-5C03-6A82-E086982FC962}"/>
              </a:ext>
            </a:extLst>
          </p:cNvPr>
          <p:cNvSpPr/>
          <p:nvPr/>
        </p:nvSpPr>
        <p:spPr>
          <a:xfrm>
            <a:off x="7739611" y="4657544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35C6AF-8763-E9E3-8DFA-9BBFC2A11E9A}"/>
              </a:ext>
            </a:extLst>
          </p:cNvPr>
          <p:cNvSpPr/>
          <p:nvPr/>
        </p:nvSpPr>
        <p:spPr>
          <a:xfrm>
            <a:off x="7351054" y="3196502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3CF486-D786-E572-0BDB-5F104AF169F7}"/>
              </a:ext>
            </a:extLst>
          </p:cNvPr>
          <p:cNvSpPr/>
          <p:nvPr/>
        </p:nvSpPr>
        <p:spPr>
          <a:xfrm>
            <a:off x="3220493" y="3234040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E246E24-D33F-17BE-E92A-33CC78C51535}"/>
              </a:ext>
            </a:extLst>
          </p:cNvPr>
          <p:cNvSpPr/>
          <p:nvPr/>
        </p:nvSpPr>
        <p:spPr>
          <a:xfrm>
            <a:off x="7279158" y="1850541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DB6D162-3F63-6E13-AF3F-6A7EBC45DD2F}"/>
              </a:ext>
            </a:extLst>
          </p:cNvPr>
          <p:cNvCxnSpPr>
            <a:cxnSpLocks/>
          </p:cNvCxnSpPr>
          <p:nvPr/>
        </p:nvCxnSpPr>
        <p:spPr>
          <a:xfrm>
            <a:off x="6869117" y="215477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B819E92-A662-FC29-8978-D1E3F4D7CB63}"/>
              </a:ext>
            </a:extLst>
          </p:cNvPr>
          <p:cNvCxnSpPr>
            <a:cxnSpLocks/>
          </p:cNvCxnSpPr>
          <p:nvPr/>
        </p:nvCxnSpPr>
        <p:spPr>
          <a:xfrm>
            <a:off x="8445378" y="282094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15F83E0-3EAE-2EA4-6484-895E1C2725DF}"/>
              </a:ext>
            </a:extLst>
          </p:cNvPr>
          <p:cNvCxnSpPr>
            <a:cxnSpLocks/>
          </p:cNvCxnSpPr>
          <p:nvPr/>
        </p:nvCxnSpPr>
        <p:spPr>
          <a:xfrm>
            <a:off x="7493126" y="3693426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BCE6EA0-F19D-4201-D414-16051C43C7D4}"/>
              </a:ext>
            </a:extLst>
          </p:cNvPr>
          <p:cNvCxnSpPr>
            <a:cxnSpLocks/>
          </p:cNvCxnSpPr>
          <p:nvPr/>
        </p:nvCxnSpPr>
        <p:spPr>
          <a:xfrm>
            <a:off x="8552976" y="2234979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AA1348A-41E2-EDE2-D73E-87EE79F805E1}"/>
              </a:ext>
            </a:extLst>
          </p:cNvPr>
          <p:cNvCxnSpPr>
            <a:cxnSpLocks/>
          </p:cNvCxnSpPr>
          <p:nvPr/>
        </p:nvCxnSpPr>
        <p:spPr>
          <a:xfrm>
            <a:off x="8273323" y="4481188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26DB353-E2D0-4659-E985-1780C4614481}"/>
              </a:ext>
            </a:extLst>
          </p:cNvPr>
          <p:cNvCxnSpPr>
            <a:cxnSpLocks/>
          </p:cNvCxnSpPr>
          <p:nvPr/>
        </p:nvCxnSpPr>
        <p:spPr>
          <a:xfrm>
            <a:off x="3391073" y="2590825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FBE258A-1B76-6B76-FBB9-0FB0729FE513}"/>
              </a:ext>
            </a:extLst>
          </p:cNvPr>
          <p:cNvCxnSpPr>
            <a:cxnSpLocks/>
          </p:cNvCxnSpPr>
          <p:nvPr/>
        </p:nvCxnSpPr>
        <p:spPr>
          <a:xfrm>
            <a:off x="7825485" y="3150007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221758DA-5635-4398-C049-5708DC968B1E}"/>
              </a:ext>
            </a:extLst>
          </p:cNvPr>
          <p:cNvCxnSpPr>
            <a:cxnSpLocks/>
          </p:cNvCxnSpPr>
          <p:nvPr/>
        </p:nvCxnSpPr>
        <p:spPr>
          <a:xfrm>
            <a:off x="8461216" y="4024499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08A38D6-FF41-D4F7-0EAB-8508E3FBF72E}"/>
              </a:ext>
            </a:extLst>
          </p:cNvPr>
          <p:cNvCxnSpPr>
            <a:cxnSpLocks/>
          </p:cNvCxnSpPr>
          <p:nvPr/>
        </p:nvCxnSpPr>
        <p:spPr>
          <a:xfrm>
            <a:off x="4214969" y="4123856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0F44572-33EA-C5CD-90AF-02076DF9E441}"/>
              </a:ext>
            </a:extLst>
          </p:cNvPr>
          <p:cNvCxnSpPr>
            <a:cxnSpLocks/>
          </p:cNvCxnSpPr>
          <p:nvPr/>
        </p:nvCxnSpPr>
        <p:spPr>
          <a:xfrm>
            <a:off x="9725837" y="2219763"/>
            <a:ext cx="183519" cy="128347"/>
          </a:xfrm>
          <a:prstGeom prst="bentConnector3">
            <a:avLst/>
          </a:prstGeom>
          <a:ln w="3492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4B775D2-6846-61E0-F108-DD469BCE3627}"/>
              </a:ext>
            </a:extLst>
          </p:cNvPr>
          <p:cNvSpPr txBox="1"/>
          <p:nvPr/>
        </p:nvSpPr>
        <p:spPr>
          <a:xfrm>
            <a:off x="3635164" y="3101690"/>
            <a:ext cx="1279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Solid Phase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7AC7AD-F03E-60EC-28E3-D72BB7F31B4C}"/>
              </a:ext>
            </a:extLst>
          </p:cNvPr>
          <p:cNvSpPr txBox="1"/>
          <p:nvPr/>
        </p:nvSpPr>
        <p:spPr>
          <a:xfrm>
            <a:off x="5345502" y="1700396"/>
            <a:ext cx="16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Solution Phase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A74A8B-EB5C-6B30-69FA-62B92402D203}"/>
              </a:ext>
            </a:extLst>
          </p:cNvPr>
          <p:cNvSpPr txBox="1"/>
          <p:nvPr/>
        </p:nvSpPr>
        <p:spPr>
          <a:xfrm>
            <a:off x="10034351" y="2096479"/>
            <a:ext cx="2008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Low mass C (e.g., acetate)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D4FC16-2F90-0734-57F2-4F035814A89D}"/>
              </a:ext>
            </a:extLst>
          </p:cNvPr>
          <p:cNvSpPr txBox="1"/>
          <p:nvPr/>
        </p:nvSpPr>
        <p:spPr>
          <a:xfrm>
            <a:off x="10034351" y="2404587"/>
            <a:ext cx="1916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Colloids (mineral, organic, mineral/organic)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534A91-3289-A735-BD7A-9DEF76E11E69}"/>
              </a:ext>
            </a:extLst>
          </p:cNvPr>
          <p:cNvSpPr txBox="1"/>
          <p:nvPr/>
        </p:nvSpPr>
        <p:spPr>
          <a:xfrm>
            <a:off x="10034351" y="2908080"/>
            <a:ext cx="1871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Organic macromolecule (dispersed/random coil)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4AB115-F196-8F00-4648-49E8F3E50071}"/>
              </a:ext>
            </a:extLst>
          </p:cNvPr>
          <p:cNvSpPr txBox="1"/>
          <p:nvPr/>
        </p:nvSpPr>
        <p:spPr>
          <a:xfrm>
            <a:off x="10034351" y="3474666"/>
            <a:ext cx="1871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Organic macromolecule (aggregated)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7343D4CF-8795-6101-2803-DDDF8F23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51" y="2143172"/>
            <a:ext cx="2635485" cy="2505316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E37187B-4DAD-E81D-966F-7AA7E501A28C}"/>
              </a:ext>
            </a:extLst>
          </p:cNvPr>
          <p:cNvSpPr/>
          <p:nvPr/>
        </p:nvSpPr>
        <p:spPr>
          <a:xfrm>
            <a:off x="1051672" y="2143172"/>
            <a:ext cx="1465533" cy="2381250"/>
          </a:xfrm>
          <a:prstGeom prst="roundRect">
            <a:avLst/>
          </a:prstGeom>
          <a:solidFill>
            <a:srgbClr val="C0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651CF6-80BE-F1D1-C759-F51F2FD3E895}"/>
              </a:ext>
            </a:extLst>
          </p:cNvPr>
          <p:cNvSpPr txBox="1"/>
          <p:nvPr/>
        </p:nvSpPr>
        <p:spPr>
          <a:xfrm>
            <a:off x="620275" y="383251"/>
            <a:ext cx="10741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Post-treatment: </a:t>
            </a:r>
          </a:p>
          <a:p>
            <a:pPr algn="ctr"/>
            <a:r>
              <a:rPr lang="en-US" dirty="0"/>
              <a:t>As ionic strength/conductivity decreases over time due to introduction of rain, dispersive forces increase, promoting desorption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D83FFE-4317-029F-AFC3-DA950ED8F3B8}"/>
              </a:ext>
            </a:extLst>
          </p:cNvPr>
          <p:cNvSpPr/>
          <p:nvPr/>
        </p:nvSpPr>
        <p:spPr>
          <a:xfrm>
            <a:off x="7661000" y="2626907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DFD17D9-7419-F518-504F-FFE7A641743D}"/>
              </a:ext>
            </a:extLst>
          </p:cNvPr>
          <p:cNvSpPr/>
          <p:nvPr/>
        </p:nvSpPr>
        <p:spPr>
          <a:xfrm>
            <a:off x="7865554" y="4172332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86B17EA-FE43-9AA5-B2FF-EE5AB54F4170}"/>
              </a:ext>
            </a:extLst>
          </p:cNvPr>
          <p:cNvSpPr/>
          <p:nvPr/>
        </p:nvSpPr>
        <p:spPr>
          <a:xfrm>
            <a:off x="8945793" y="2694998"/>
            <a:ext cx="123707" cy="1269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5DD033-F0D3-3AAE-CF8F-F5B951F09BE9}"/>
              </a:ext>
            </a:extLst>
          </p:cNvPr>
          <p:cNvSpPr txBox="1"/>
          <p:nvPr/>
        </p:nvSpPr>
        <p:spPr>
          <a:xfrm>
            <a:off x="846278" y="5339522"/>
            <a:ext cx="11059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Low mass C has relatively low affinity for soil surfaces, so is primarily in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Increasing electrostatic repulsion (uncoiling) within and between organic macromolecules leads to desorption/dispersion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Electrostatic repulsion between colloids and soil surfaces leads to dispersion/desorption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E7B99AA-9512-D735-A69F-0A66C9CD0D8F}"/>
              </a:ext>
            </a:extLst>
          </p:cNvPr>
          <p:cNvCxnSpPr>
            <a:cxnSpLocks/>
          </p:cNvCxnSpPr>
          <p:nvPr/>
        </p:nvCxnSpPr>
        <p:spPr>
          <a:xfrm flipH="1">
            <a:off x="1784438" y="794716"/>
            <a:ext cx="2614050" cy="12382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51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409E-1293-E54D-9FAA-FADEC16F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085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329</Words>
  <Application>Microsoft Macintosh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O'Loughlin, Edward J.</dc:creator>
  <cp:lastModifiedBy>Myers-Pigg, Allison N</cp:lastModifiedBy>
  <cp:revision>8</cp:revision>
  <dcterms:created xsi:type="dcterms:W3CDTF">2026-04-14T14:04:02Z</dcterms:created>
  <dcterms:modified xsi:type="dcterms:W3CDTF">2026-04-14T16:29:25Z</dcterms:modified>
</cp:coreProperties>
</file>